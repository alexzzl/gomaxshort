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16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65" r:id="rId12"/>
    <p:sldId id="269" r:id="rId13"/>
    <p:sldId id="266" r:id="rId14"/>
    <p:sldId id="267" r:id="rId15"/>
  </p:sldIdLst>
  <p:sldSz cx="9144000" cy="6858000" type="screen4x3"/>
  <p:notesSz cx="6858000" cy="9144000"/>
  <p:embeddedFontLst>
    <p:embeddedFont>
      <p:font typeface="Century Gothic" panose="020B0502020202020204" pitchFamily="34" charset="0"/>
      <p:regular r:id="rId17"/>
      <p:bold r:id="rId18"/>
      <p:italic r:id="rId19"/>
      <p:boldItalic r:id="rId20"/>
    </p:embeddedFont>
    <p:embeddedFont>
      <p:font typeface="Constantia" panose="02030602050306030303" pitchFamily="18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5375610-7600-4973-BF82-191DA6F836F1}">
  <a:tblStyle styleId="{25375610-7600-4973-BF82-191DA6F836F1}" styleName="Table_0">
    <a:wholeTbl>
      <a:tcTxStyle b="off" i="off">
        <a:font>
          <a:latin typeface="Constantia"/>
          <a:ea typeface="Constantia"/>
          <a:cs typeface="Constanti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tcBdr/>
        <a:fill>
          <a:solidFill>
            <a:srgbClr val="CA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A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onstantia"/>
          <a:ea typeface="Constantia"/>
          <a:cs typeface="Constanti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0D7D541-CF8F-4543-9F64-9DD65BD08CB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2" d="100"/>
          <a:sy n="152" d="100"/>
        </p:scale>
        <p:origin x="2060" y="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>
          <a:extLst>
            <a:ext uri="{FF2B5EF4-FFF2-40B4-BE49-F238E27FC236}">
              <a16:creationId xmlns:a16="http://schemas.microsoft.com/office/drawing/2014/main" id="{770F1E3B-03C1-F6B2-6662-3A3EC2981A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>
            <a:extLst>
              <a:ext uri="{FF2B5EF4-FFF2-40B4-BE49-F238E27FC236}">
                <a16:creationId xmlns:a16="http://schemas.microsoft.com/office/drawing/2014/main" id="{BE03F415-DD2A-3755-DEC0-FFAE56454E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>
            <a:extLst>
              <a:ext uri="{FF2B5EF4-FFF2-40B4-BE49-F238E27FC236}">
                <a16:creationId xmlns:a16="http://schemas.microsoft.com/office/drawing/2014/main" id="{C9E6BE1B-9B6E-5153-095B-5CAB0F4FC2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684411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C2D7309F-05C6-A342-B135-C7ECA3B47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>
            <a:extLst>
              <a:ext uri="{FF2B5EF4-FFF2-40B4-BE49-F238E27FC236}">
                <a16:creationId xmlns:a16="http://schemas.microsoft.com/office/drawing/2014/main" id="{69F51734-F632-FE61-886C-12735B052F1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>
            <a:extLst>
              <a:ext uri="{FF2B5EF4-FFF2-40B4-BE49-F238E27FC236}">
                <a16:creationId xmlns:a16="http://schemas.microsoft.com/office/drawing/2014/main" id="{4A095551-DF0D-F816-EE08-20BBC3536F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01660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3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sz="5600" b="1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rmAutofit/>
          </a:bodyPr>
          <a:lstStyle>
            <a:lvl1pPr marL="457200" lvl="0" indent="-2286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2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5445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marL="914400" lvl="1" indent="-35814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marL="1371600" lvl="2" indent="-3175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2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ctr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280"/>
              <a:buNone/>
              <a:defRPr sz="2400" b="1" cap="none">
                <a:solidFill>
                  <a:schemeClr val="dk2"/>
                </a:solidFill>
              </a:defRPr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17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 b="1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3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4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61315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marL="914400" lvl="1" indent="-33655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marL="1828800" lvl="3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marL="2286000" lvl="4" indent="-294639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sz="50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 txBox="1"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sz="2600" b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1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275" tIns="45700" rIns="1827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2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45700" anchor="t" anchorCtr="0">
            <a:normAutofit/>
          </a:bodyPr>
          <a:lstStyle>
            <a:lvl1pPr marL="457200" lvl="0" indent="-39751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marL="914400" lvl="1" indent="-368935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marL="1371600" lvl="2" indent="-33528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marL="1828800" lvl="3" indent="-31115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캡션 있는 그림" type="picTx">
  <p:cSld name="PICTURE_WITH_CAPTION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 rot="-10380000" flipH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dist="38500" dir="7500000" sx="98500" sy="100080" kx="100000" algn="tl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8" name="Google Shape;68;p10"/>
          <p:cNvSpPr/>
          <p:nvPr/>
        </p:nvSpPr>
        <p:spPr>
          <a:xfrm rot="-10380000" flipH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>
            <a:solidFill>
              <a:srgbClr val="FFFFFF"/>
            </a:solidFill>
            <a:prstDash val="solid"/>
            <a:bevel/>
            <a:headEnd type="none" w="sm" len="sm"/>
            <a:tailEnd type="none" w="sm" len="sm"/>
          </a:ln>
          <a:effectLst>
            <a:outerShdw blurRad="19685" dist="6350" dir="12900000" algn="tl" rotWithShape="0">
              <a:srgbClr val="000000">
                <a:alpha val="46666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sz="2000" b="1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000" tIns="45700" rIns="45700" bIns="45700" anchor="t" anchorCtr="0">
            <a:normAutofit/>
          </a:bodyPr>
          <a:lstStyle>
            <a:lvl1pPr marL="457200" lvl="0" indent="-2286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marL="914400" lvl="1" indent="-293369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marL="1371600" lvl="2" indent="-27305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marL="1828800" lvl="3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marL="2286000" lvl="4" indent="-265747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w="9525" cap="rnd" cmpd="sng">
            <a:solidFill>
              <a:srgbClr val="C0C0C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0"/>
          <p:cNvSpPr/>
          <p:nvPr/>
        </p:nvSpPr>
        <p:spPr>
          <a:xfrm rot="10800000" flipH="1">
            <a:off x="-9525" y="5816600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6" name="Google Shape;76;p10"/>
          <p:cNvSpPr/>
          <p:nvPr/>
        </p:nvSpPr>
        <p:spPr>
          <a:xfrm rot="10800000" flipH="1">
            <a:off x="4381500" y="6219825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1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 rot="5400000">
            <a:off x="5052219" y="2491582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body" idx="1"/>
          </p:nvPr>
        </p:nvSpPr>
        <p:spPr>
          <a:xfrm rot="5400000">
            <a:off x="861219" y="510382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7185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marL="914400" lvl="1" indent="-325755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marL="1371600" lvl="2" indent="-30861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marL="1828800" lvl="3" indent="-302894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marL="2286000" lvl="4" indent="-302895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marL="2743200" lvl="5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marL="3200400" lvl="6" indent="-320039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4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sz="5600" b="1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>
            <a:lvl1pPr marR="45720" lvl="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4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3">
            <a:alphaModFix/>
          </a:blip>
          <a:tile tx="0" ty="0" sx="65000" sy="65000" flip="none" algn="tl"/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02894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294639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3" name="Google Shape;13;p1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4" name="Google Shape;14;p1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5" name="Google Shape;15;p1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alphaModFix/>
          </a:blip>
          <a:tile tx="0" ty="0" sx="65000" sy="65000" flip="none" algn="tl"/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/>
          <p:nvPr/>
        </p:nvSpPr>
        <p:spPr>
          <a:xfrm>
            <a:off x="-9525" y="-7144"/>
            <a:ext cx="9163050" cy="1041400"/>
          </a:xfrm>
          <a:custGeom>
            <a:avLst/>
            <a:gdLst/>
            <a:ahLst/>
            <a:cxnLst/>
            <a:rect l="l" t="t" r="r" b="b"/>
            <a:pathLst>
              <a:path w="5772" h="656" extrusionOk="0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4381500" y="-7144"/>
            <a:ext cx="4762500" cy="638175"/>
          </a:xfrm>
          <a:custGeom>
            <a:avLst/>
            <a:gdLst/>
            <a:ahLst/>
            <a:cxnLst/>
            <a:rect l="l" t="t" r="r" b="b"/>
            <a:pathLst>
              <a:path w="3000" h="595" extrusionOk="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alibri"/>
              <a:buNone/>
              <a:defRPr sz="4000" b="0" i="0" u="none" strike="noStrike" cap="non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5445" algn="l" rtl="0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sz="2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914400" marR="0" lvl="1" indent="-358140" algn="l" rtl="0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sz="2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1371600" marR="0" lvl="2" indent="-321944" algn="l" rtl="0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sz="21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1828800" marR="0" lvl="3" indent="-302894" algn="l" rtl="0">
              <a:spcBef>
                <a:spcPts val="360"/>
              </a:spcBef>
              <a:spcAft>
                <a:spcPts val="0"/>
              </a:spcAft>
              <a:buClr>
                <a:schemeClr val="accent3"/>
              </a:buClr>
              <a:buSzPts val="117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2286000" marR="0" lvl="4" indent="-294639" algn="l" rtl="0">
              <a:spcBef>
                <a:spcPts val="320"/>
              </a:spcBef>
              <a:spcAft>
                <a:spcPts val="0"/>
              </a:spcAft>
              <a:buClr>
                <a:schemeClr val="accent4"/>
              </a:buClr>
              <a:buSzPts val="104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2743200" marR="0" lvl="5" indent="-320039" algn="l" rtl="0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3200400" marR="0" lvl="6" indent="-309879" algn="l" rtl="0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sz="16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4114800" marR="0" lvl="8" indent="-317500" algn="l" rtl="0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sz="14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ftr" idx="11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ldNum" idx="12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u="non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97" name="Google Shape;97;p13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98" name="Google Shape;98;p13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avLst/>
              <a:gdLst/>
              <a:ahLst/>
              <a:cxnLst/>
              <a:rect l="l" t="t" r="r" b="b"/>
              <a:pathLst>
                <a:path w="5772" h="1055" extrusionOk="0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75" cap="flat" cmpd="sng">
              <a:solidFill>
                <a:srgbClr val="09B6BE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99" name="Google Shape;99;p13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avLst/>
              <a:gdLst/>
              <a:ahLst/>
              <a:cxnLst/>
              <a:rect l="l" t="t" r="r" b="b"/>
              <a:pathLst>
                <a:path w="5766" h="854" extrusionOk="0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 txBox="1"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18275" bIns="0" anchor="b" anchorCtr="0">
            <a:normAutofit/>
          </a:bodyPr>
          <a:lstStyle/>
          <a:p>
            <a:r>
              <a:t>GoMax Short Description</a:t>
            </a:r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18275" bIns="45700" anchor="t" anchorCtr="0">
            <a:normAutofit/>
          </a:bodyPr>
          <a:lstStyle/>
          <a:p>
            <a:r>
              <a:t>GoMax Entertainment Ltd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Revision History</a:t>
            </a:r>
          </a:p>
        </p:txBody>
      </p:sp>
      <p:graphicFrame>
        <p:nvGraphicFramePr>
          <p:cNvPr id="123" name="Google Shape;123;p17"/>
          <p:cNvGraphicFramePr/>
          <p:nvPr/>
        </p:nvGraphicFramePr>
        <p:xfrm>
          <a:off x="457200" y="1935163"/>
          <a:ext cx="8229600" cy="1285270"/>
        </p:xfrm>
        <a:graphic>
          <a:graphicData uri="http://schemas.openxmlformats.org/drawingml/2006/table">
            <a:tbl>
              <a:tblPr firstRow="1" bandRow="1">
                <a:noFill/>
                <a:tableStyleId>{25375610-7600-4973-BF82-191DA6F836F1}</a:tableStyleId>
              </a:tblPr>
              <a:tblGrid>
                <a:gridCol w="1090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92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50">
                <a:tc>
                  <a:txBody>
                    <a:bodyPr/>
                    <a:lstStyle/>
                    <a:p>
                      <a:r>
                        <a:rPr sz="1200" b="1"/>
                        <a:t>Version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Date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Description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Author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200" b="0"/>
                        <a:t>1.0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March 25, 2026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Initial Samsung TV Seller Office UI description for GoMax Short.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GoMax Team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r>
                        <a:rPr sz="1200" b="0"/>
                        <a:t>1.0.1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March 25, 2026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Updated with actual application screenshots and navigation flow.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GoMax Team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Contents</a:t>
            </a:r>
          </a:p>
        </p:txBody>
      </p:sp>
      <p:sp>
        <p:nvSpPr>
          <p:cNvPr id="129" name="Google Shape;129;p18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2400" b="0">
                <a:solidFill>
                  <a:srgbClr val="222222"/>
                </a:solidFill>
              </a:rPr>
              <a:t>UI Structure</a:t>
            </a:r>
            <a:endParaRPr/>
          </a:p>
          <a:p>
            <a:r>
              <a:rPr sz="2400" b="0">
                <a:solidFill>
                  <a:srgbClr val="222222"/>
                </a:solidFill>
              </a:rPr>
              <a:t>Usage Scenario</a:t>
            </a:r>
          </a:p>
          <a:p>
            <a:r>
              <a:rPr sz="2400" b="0">
                <a:solidFill>
                  <a:srgbClr val="222222"/>
                </a:solidFill>
              </a:rPr>
              <a:t>Menu &amp; Function Description</a:t>
            </a:r>
          </a:p>
          <a:p>
            <a:r>
              <a:rPr sz="2400" b="0">
                <a:solidFill>
                  <a:srgbClr val="222222"/>
                </a:solidFill>
              </a:rPr>
              <a:t>Navigation Flow</a:t>
            </a:r>
          </a:p>
          <a:p>
            <a:r>
              <a:rPr sz="2400" b="0">
                <a:solidFill>
                  <a:srgbClr val="222222"/>
                </a:solidFill>
              </a:rPr>
              <a:t>Key Policy</a:t>
            </a:r>
          </a:p>
          <a:p>
            <a:r>
              <a:rPr sz="2400" b="0">
                <a:solidFill>
                  <a:srgbClr val="222222"/>
                </a:solidFill>
              </a:rPr>
              <a:t>Language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</a:t>
            </a:r>
          </a:p>
        </p:txBody>
      </p:sp>
      <p:sp>
        <p:nvSpPr>
          <p:cNvPr id="135" name="Google Shape;135;p19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Whole UI Structure</a:t>
            </a:r>
            <a:endParaRPr/>
          </a:p>
          <a:p>
            <a:endParaRPr/>
          </a:p>
          <a:p>
            <a:r>
              <a:rPr sz="1800" b="0">
                <a:solidFill>
                  <a:srgbClr val="222222"/>
                </a:solidFill>
              </a:rPr>
              <a:t>GoMax Short is a Samsung TV short drama streaming application</a:t>
            </a:r>
          </a:p>
          <a:p>
            <a:r>
              <a:rPr sz="1800" b="0">
                <a:solidFill>
                  <a:srgbClr val="222222"/>
                </a:solidFill>
              </a:rPr>
              <a:t>for browsing and watching free short drama series.</a:t>
            </a:r>
          </a:p>
          <a:p>
            <a:r>
              <a:rPr sz="1800" b="0">
                <a:solidFill>
                  <a:srgbClr val="222222"/>
                </a:solidFill>
              </a:rPr>
              <a:t>Only currently available user flows are described in this document.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Primary user flow:</a:t>
            </a:r>
          </a:p>
          <a:p>
            <a:r>
              <a:rPr sz="1800" b="0">
                <a:solidFill>
                  <a:srgbClr val="222222"/>
                </a:solidFill>
              </a:rPr>
              <a:t>Home -&gt; Detail -&gt; Player</a:t>
            </a:r>
          </a:p>
          <a:p>
            <a:r>
              <a:rPr sz="1800" b="0">
                <a:solidFill>
                  <a:srgbClr val="222222"/>
                </a:solidFill>
              </a:rPr>
              <a:t>Discover -&gt; Detail -&gt; Player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Main screens in the current release:</a:t>
            </a:r>
          </a:p>
          <a:p>
            <a:r>
              <a:rPr sz="1800" b="0">
                <a:solidFill>
                  <a:srgbClr val="222222"/>
                </a:solidFill>
              </a:rPr>
              <a:t>- Home: featured banner, popular dramas, and quick access cards</a:t>
            </a:r>
          </a:p>
          <a:p>
            <a:r>
              <a:rPr sz="1800" b="0">
                <a:solidFill>
                  <a:srgbClr val="222222"/>
                </a:solidFill>
              </a:rPr>
              <a:t>- Discover: category browsing, trending content, and new releases</a:t>
            </a:r>
          </a:p>
          <a:p>
            <a:r>
              <a:rPr sz="1800" b="0">
                <a:solidFill>
                  <a:srgbClr val="222222"/>
                </a:solidFill>
              </a:rPr>
              <a:t>- Detail: drama information, episode list, and related content</a:t>
            </a:r>
          </a:p>
          <a:p>
            <a:r>
              <a:rPr sz="1800" b="0">
                <a:solidFill>
                  <a:srgbClr val="222222"/>
                </a:solidFill>
              </a:rPr>
              <a:t>- Player: video playback with episode navigation</a:t>
            </a:r>
          </a:p>
          <a:p>
            <a:r>
              <a:rPr sz="1800" b="0">
                <a:solidFill>
                  <a:srgbClr val="222222"/>
                </a:solidFill>
              </a:rPr>
              <a:t>- My List: watch history and favorites</a:t>
            </a:r>
          </a:p>
          <a:p>
            <a:r>
              <a:rPr sz="1800" b="0">
                <a:solidFill>
                  <a:srgbClr val="222222"/>
                </a:solidFill>
              </a:rPr>
              <a:t>- Categories: browse by drama type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0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 - Flow Graph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1737360" y="1737360"/>
            <a:ext cx="155448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Home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3429000" y="178308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&lt;-&gt;</a:t>
            </a:r>
          </a:p>
        </p:txBody>
      </p:sp>
      <p:sp>
        <p:nvSpPr>
          <p:cNvPr id="143" name="Rounded Rectangle 142"/>
          <p:cNvSpPr/>
          <p:nvPr/>
        </p:nvSpPr>
        <p:spPr>
          <a:xfrm>
            <a:off x="3931920" y="1737360"/>
            <a:ext cx="1783080" cy="594360"/>
          </a:xfrm>
          <a:prstGeom prst="roundRect">
            <a:avLst/>
          </a:prstGeom>
          <a:solidFill>
            <a:srgbClr val="3FA77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Discover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3611880" y="251460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2971800" y="2926080"/>
            <a:ext cx="1645920" cy="640080"/>
          </a:xfrm>
          <a:prstGeom prst="roundRect">
            <a:avLst/>
          </a:prstGeom>
          <a:solidFill>
            <a:srgbClr val="E08A3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Detail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3657600" y="361188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555555"/>
                </a:solidFill>
              </a:rPr>
              <a:t>v</a:t>
            </a:r>
          </a:p>
        </p:txBody>
      </p:sp>
      <p:sp>
        <p:nvSpPr>
          <p:cNvPr id="147" name="Rounded Rectangle 146"/>
          <p:cNvSpPr/>
          <p:nvPr/>
        </p:nvSpPr>
        <p:spPr>
          <a:xfrm>
            <a:off x="2788920" y="3977639"/>
            <a:ext cx="2011680" cy="685800"/>
          </a:xfrm>
          <a:prstGeom prst="roundRect">
            <a:avLst/>
          </a:prstGeom>
          <a:solidFill>
            <a:srgbClr val="B94E5D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</a:rPr>
              <a:t>Player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UI Structure - Depth Navigation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051560" y="1828800"/>
            <a:ext cx="649224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222222"/>
                </a:solidFill>
              </a:rPr>
              <a:t>Depth 1 : Home, Discover</a:t>
            </a:r>
          </a:p>
          <a:p>
            <a:r>
              <a:rPr sz="2000" b="0">
                <a:solidFill>
                  <a:srgbClr val="222222"/>
                </a:solidFill>
              </a:rPr>
              <a:t>Depth 2 : Selected drama detail page</a:t>
            </a:r>
          </a:p>
          <a:p>
            <a:r>
              <a:rPr sz="2000" b="0">
                <a:solidFill>
                  <a:srgbClr val="222222"/>
                </a:solidFill>
              </a:rPr>
              <a:t>Depth 3 : Episode playback page</a:t>
            </a:r>
          </a:p>
          <a:p>
            <a:endParaRPr sz="2000" b="0">
              <a:solidFill>
                <a:srgbClr val="222222"/>
              </a:solidFill>
            </a:endParaRPr>
          </a:p>
          <a:p>
            <a:r>
              <a:rPr sz="2000" b="0">
                <a:solidFill>
                  <a:srgbClr val="222222"/>
                </a:solidFill>
              </a:rPr>
              <a:t>Global UI elements:</a:t>
            </a:r>
          </a:p>
          <a:p>
            <a:r>
              <a:rPr sz="2000" b="0">
                <a:solidFill>
                  <a:srgbClr val="222222"/>
                </a:solidFill>
              </a:rPr>
              <a:t>- Header navigation bar</a:t>
            </a:r>
          </a:p>
          <a:p>
            <a:r>
              <a:rPr sz="2000" b="0">
                <a:solidFill>
                  <a:srgbClr val="222222"/>
                </a:solidFill>
              </a:rPr>
              <a:t>- Focus highlight for remote-control navigation</a:t>
            </a:r>
          </a:p>
          <a:p>
            <a:endParaRPr sz="2000" b="0">
              <a:solidFill>
                <a:srgbClr val="222222"/>
              </a:solidFill>
            </a:endParaRPr>
          </a:p>
          <a:p>
            <a:r>
              <a:rPr sz="2000" b="0">
                <a:solidFill>
                  <a:srgbClr val="222222"/>
                </a:solidFill>
              </a:rPr>
              <a:t>Contextual UI elements:</a:t>
            </a:r>
          </a:p>
          <a:p>
            <a:r>
              <a:rPr sz="2000" b="0">
                <a:solidFill>
                  <a:srgbClr val="222222"/>
                </a:solidFill>
              </a:rPr>
              <a:t>- Episode list on Detail page</a:t>
            </a:r>
          </a:p>
          <a:p>
            <a:r>
              <a:rPr sz="2000" b="0">
                <a:solidFill>
                  <a:srgbClr val="222222"/>
                </a:solidFill>
              </a:rPr>
              <a:t>- Video area and episode list on Player page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1" name="Google Shape;181;p22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Use Case 1: Browse and watch short dramas.</a:t>
            </a:r>
            <a:endParaRPr/>
          </a:p>
          <a:p>
            <a:endParaRPr/>
          </a:p>
          <a:p>
            <a:r>
              <a:rPr sz="1800" b="0">
                <a:solidFill>
                  <a:srgbClr val="222222"/>
                </a:solidFill>
              </a:rPr>
              <a:t>1. Navigate between Home, Discover, My List, and Categories with directional keys.</a:t>
            </a:r>
          </a:p>
          <a:p>
            <a:r>
              <a:rPr sz="1800" b="0">
                <a:solidFill>
                  <a:srgbClr val="222222"/>
                </a:solidFill>
              </a:rPr>
              <a:t>2. Browse featured dramas on Home or explore categories in Discover.</a:t>
            </a:r>
          </a:p>
          <a:p>
            <a:r>
              <a:rPr sz="1800" b="0">
                <a:solidFill>
                  <a:srgbClr val="222222"/>
                </a:solidFill>
              </a:rPr>
              <a:t>3. Select a drama card with the Enter key to view details.</a:t>
            </a:r>
          </a:p>
          <a:p>
            <a:r>
              <a:rPr sz="1800" b="0">
                <a:solidFill>
                  <a:srgbClr val="222222"/>
                </a:solidFill>
              </a:rPr>
              <a:t>4. Review drama information, synopsis, and episode list on Detail screen.</a:t>
            </a:r>
          </a:p>
          <a:p>
            <a:r>
              <a:rPr sz="1800" b="0">
                <a:solidFill>
                  <a:srgbClr val="222222"/>
                </a:solidFill>
              </a:rPr>
              <a:t>5. Select Play button or choose a specific episode to start watching.</a:t>
            </a:r>
          </a:p>
          <a:p>
            <a:r>
              <a:rPr sz="1800" b="0">
                <a:solidFill>
                  <a:srgbClr val="222222"/>
                </a:solidFill>
              </a:rPr>
              <a:t>6. Control playback with remote: play/pause, seek, next/previous episode.</a:t>
            </a:r>
          </a:p>
          <a:p>
            <a:r>
              <a:rPr sz="1800" b="0">
                <a:solidFill>
                  <a:srgbClr val="222222"/>
                </a:solidFill>
              </a:rPr>
              <a:t>7. Press Return to navigate back or access episode list.</a:t>
            </a:r>
          </a:p>
          <a:p>
            <a:r>
              <a:rPr sz="1800" b="0">
                <a:solidFill>
                  <a:srgbClr val="222222"/>
                </a:solidFill>
              </a:rPr>
              <a:t>8. Add dramas to favorites or view watch history in My List.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No account sign-in, activation, or purchase is required - all content is free!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Usage Scenario</a:t>
            </a:r>
          </a:p>
        </p:txBody>
      </p:sp>
      <p:sp>
        <p:nvSpPr>
          <p:cNvPr id="187" name="Google Shape;187;p23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280"/>
              <a:buChar char="⚫"/>
            </a:pPr>
            <a:r>
              <a:rPr sz="1800" b="0">
                <a:solidFill>
                  <a:srgbClr val="222222"/>
                </a:solidFill>
              </a:rPr>
              <a:t>Use Case Title: Navigate through main application screens</a:t>
            </a:r>
            <a:endParaRPr sz="2400"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Path 1: Home -&gt; Browse featured content</a:t>
            </a:r>
          </a:p>
          <a:p>
            <a:r>
              <a:rPr sz="1800" b="0">
                <a:solidFill>
                  <a:srgbClr val="222222"/>
                </a:solidFill>
              </a:rPr>
              <a:t>Path 2: Discover -&gt; Explore categories and trending content</a:t>
            </a:r>
          </a:p>
          <a:p>
            <a:r>
              <a:rPr sz="1800" b="0">
                <a:solidFill>
                  <a:srgbClr val="222222"/>
                </a:solidFill>
              </a:rPr>
              <a:t>Path 3: My List -&gt; View watch history and favorites</a:t>
            </a:r>
          </a:p>
          <a:p>
            <a:r>
              <a:rPr sz="1800" b="0">
                <a:solidFill>
                  <a:srgbClr val="222222"/>
                </a:solidFill>
              </a:rPr>
              <a:t>Path 4: Categories -&gt; Browse dramas by genre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Supporting notes:</a:t>
            </a:r>
          </a:p>
          <a:p>
            <a:r>
              <a:rPr sz="1800" b="0">
                <a:solidFill>
                  <a:srgbClr val="222222"/>
                </a:solidFill>
              </a:rPr>
              <a:t>- The app follows Samsung TV navigation patterns.</a:t>
            </a:r>
          </a:p>
          <a:p>
            <a:r>
              <a:rPr sz="1800" b="0">
                <a:solidFill>
                  <a:srgbClr val="222222"/>
                </a:solidFill>
              </a:rPr>
              <a:t>- All content is completely free to watch.</a:t>
            </a:r>
          </a:p>
          <a:p>
            <a:r>
              <a:rPr sz="1800" b="0">
                <a:solidFill>
                  <a:srgbClr val="222222"/>
                </a:solidFill>
              </a:rPr>
              <a:t>- No account registration or payment required.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No account login is required.</a:t>
            </a:r>
          </a:p>
          <a:p>
            <a:r>
              <a:rPr sz="1800" b="0">
                <a:solidFill>
                  <a:srgbClr val="222222"/>
                </a:solidFill>
              </a:rPr>
              <a:t>No in-app purchase is required.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>
          <a:extLst>
            <a:ext uri="{FF2B5EF4-FFF2-40B4-BE49-F238E27FC236}">
              <a16:creationId xmlns:a16="http://schemas.microsoft.com/office/drawing/2014/main" id="{C1608E7B-4EEA-42A2-DF24-CB255C027B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Picture 187" descr="10-navigation-flow-collage.jpg">
            <a:extLst>
              <a:ext uri="{FF2B5EF4-FFF2-40B4-BE49-F238E27FC236}">
                <a16:creationId xmlns:a16="http://schemas.microsoft.com/office/drawing/2014/main" id="{E794A213-AC14-0562-8EBD-B18126F265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898" y="1431499"/>
            <a:ext cx="6873159" cy="3929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061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rPr dirty="0"/>
              <a:t>Menu &amp; Function Description</a:t>
            </a:r>
          </a:p>
        </p:txBody>
      </p:sp>
      <p:sp>
        <p:nvSpPr>
          <p:cNvPr id="194" name="Google Shape;194;p24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sz="1800" b="0">
                <a:solidFill>
                  <a:srgbClr val="222222"/>
                </a:solidFill>
              </a:rPr>
              <a:t>Screen descriptions in the current release:</a:t>
            </a:r>
            <a:endParaRPr i="1">
              <a:solidFill>
                <a:srgbClr val="54A838"/>
              </a:solidFill>
            </a:endParaRPr>
          </a:p>
          <a:p>
            <a:endParaRPr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Home: features hero banner, featured dramas, and quick access cards.</a:t>
            </a:r>
          </a:p>
          <a:p>
            <a:r>
              <a:rPr sz="1800" b="0">
                <a:solidFill>
                  <a:srgbClr val="222222"/>
                </a:solidFill>
              </a:rPr>
              <a:t>Discover: displays category browsing, trending content, and new releases.</a:t>
            </a:r>
          </a:p>
          <a:p>
            <a:r>
              <a:rPr sz="1800" b="0">
                <a:solidFill>
                  <a:srgbClr val="222222"/>
                </a:solidFill>
              </a:rPr>
              <a:t>Detail: shows drama poster, synopsis, episode grid, and related content.</a:t>
            </a:r>
          </a:p>
          <a:p>
            <a:r>
              <a:rPr sz="1800" b="0">
                <a:solidFill>
                  <a:srgbClr val="222222"/>
                </a:solidFill>
              </a:rPr>
              <a:t>Player: full-screen video with episode sidebar and playback controls.</a:t>
            </a:r>
          </a:p>
          <a:p>
            <a:r>
              <a:rPr sz="1800" b="0">
                <a:solidFill>
                  <a:srgbClr val="222222"/>
                </a:solidFill>
              </a:rPr>
              <a:t>My List: watch history and favorite dramas collection.</a:t>
            </a:r>
          </a:p>
          <a:p>
            <a:r>
              <a:rPr sz="1800" b="0">
                <a:solidFill>
                  <a:srgbClr val="222222"/>
                </a:solidFill>
              </a:rPr>
              <a:t>Categories: browse dramas by genre and type.</a:t>
            </a:r>
          </a:p>
          <a:p>
            <a:endParaRPr sz="1800" b="0">
              <a:solidFill>
                <a:srgbClr val="222222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All content is completely free - no subscriptions or payments required!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>
          <a:extLst>
            <a:ext uri="{FF2B5EF4-FFF2-40B4-BE49-F238E27FC236}">
              <a16:creationId xmlns:a16="http://schemas.microsoft.com/office/drawing/2014/main" id="{6855BDB9-30CF-EC80-EB17-FA83DE1E3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Picture 194" descr="09-menu-function-collage.jpg">
            <a:extLst>
              <a:ext uri="{FF2B5EF4-FFF2-40B4-BE49-F238E27FC236}">
                <a16:creationId xmlns:a16="http://schemas.microsoft.com/office/drawing/2014/main" id="{522B4CD9-ACAB-30D0-4DC2-907399AAAB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552" y="1938535"/>
            <a:ext cx="8064896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1358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Key Policy</a:t>
            </a:r>
          </a:p>
        </p:txBody>
      </p:sp>
      <p:sp>
        <p:nvSpPr>
          <p:cNvPr id="201" name="Google Shape;201;p25"/>
          <p:cNvSpPr txBox="1"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74320" lvl="0" indent="-274320" algn="l" rtl="0">
              <a:spcBef>
                <a:spcPts val="0"/>
              </a:spcBef>
              <a:spcAft>
                <a:spcPts val="0"/>
              </a:spcAft>
              <a:buSzPts val="2090"/>
              <a:buChar char="⚫"/>
            </a:pPr>
            <a:r>
              <a:rPr sz="1800" b="0">
                <a:solidFill>
                  <a:srgbClr val="222222"/>
                </a:solidFill>
              </a:rPr>
              <a:t>The current release follows Samsung TV remote control patterns.</a:t>
            </a:r>
            <a:endParaRPr sz="2200" i="1">
              <a:solidFill>
                <a:srgbClr val="54A838"/>
              </a:solidFill>
            </a:endParaRPr>
          </a:p>
          <a:p>
            <a:r>
              <a:rPr sz="1800" b="0">
                <a:solidFill>
                  <a:srgbClr val="222222"/>
                </a:solidFill>
              </a:rPr>
              <a:t>Home page: Navigate between main sections and featured content.</a:t>
            </a:r>
          </a:p>
          <a:p>
            <a:r>
              <a:rPr sz="1800" b="0">
                <a:solidFill>
                  <a:srgbClr val="222222"/>
                </a:solidFill>
              </a:rPr>
              <a:t>Discover / Detail / Player pages: Return navigates to the previous screen.</a:t>
            </a:r>
          </a:p>
          <a:p>
            <a:r>
              <a:rPr sz="1800" b="0">
                <a:solidFill>
                  <a:srgbClr val="222222"/>
                </a:solidFill>
              </a:rPr>
              <a:t>Player controls: Dedicated media keys control playback functions.</a:t>
            </a:r>
          </a:p>
          <a:p>
            <a:r>
              <a:rPr sz="1800" b="0">
                <a:solidFill>
                  <a:srgbClr val="222222"/>
                </a:solidFill>
              </a:rPr>
              <a:t>Navigation: Directional keys move focus between interactive elements.</a:t>
            </a:r>
          </a:p>
        </p:txBody>
      </p:sp>
      <p:graphicFrame>
        <p:nvGraphicFramePr>
          <p:cNvPr id="202" name="Google Shape;202;p25"/>
          <p:cNvGraphicFramePr/>
          <p:nvPr/>
        </p:nvGraphicFramePr>
        <p:xfrm>
          <a:off x="539552" y="24928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{F0D7D541-CF8F-4543-9F64-9DD65BD08CB1}</a:tableStyleId>
              </a:tblPr>
              <a:tblGrid>
                <a:gridCol w="139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2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375">
                <a:tc>
                  <a:txBody>
                    <a:bodyPr/>
                    <a:lstStyle/>
                    <a:p>
                      <a:r>
                        <a:rPr sz="1100" b="1"/>
                        <a:t>Button</a:t>
                      </a:r>
                    </a:p>
                  </a:txBody>
                  <a:tcPr marL="36000" marR="36000" marT="36000" marB="72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Action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100" b="1"/>
                        <a:t>Remarks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ENTER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Select the focused card, button, or episode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selection behavior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UP / DOWN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vertically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Navigate between sections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LEFT / RIGHT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Move focus horizontally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Navigate within rows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RETURN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Go to the previous screen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Standard back navigation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PLAY / PAUSE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Control video playback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Media control functions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FF / RW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Seek forward/backward 10 seconds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Quick navigation in video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EXIT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Close the application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Platform default behavior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r>
                        <a:rPr sz="1100" b="0"/>
                        <a:t>COLOR / CHANNEL / NUMBER KEYS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N/R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/>
                        <a:t>No custom mapping in current release</a:t>
                      </a: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RETURN/EXIT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 case of Game App, if game is terminated, the exit popup should be displayed.</a:t>
                      </a:r>
                      <a:endParaRPr sz="1100" b="1" i="0" u="none" strike="noStrike" cap="none">
                        <a:solidFill>
                          <a:srgbClr val="FF0000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100"/>
                        <a:buFont typeface="Century Gothic"/>
                        <a:buNone/>
                      </a:pPr>
                      <a:r>
                        <a:rPr lang="en-US" sz="1100" b="1" i="0" u="none" strike="noStrike" cap="none">
                          <a:solidFill>
                            <a:srgbClr val="FF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Samsung Mandatory</a:t>
                      </a:r>
                      <a:endParaRPr/>
                    </a:p>
                  </a:txBody>
                  <a:tcPr marL="36000" marR="36000" marT="36000" marB="36000">
                    <a:lnL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7F7F7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6"/>
          <p:cNvSpPr txBox="1"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0" anchor="b" anchorCtr="0">
            <a:normAutofit/>
          </a:bodyPr>
          <a:lstStyle/>
          <a:p>
            <a:r>
              <a:t>How to Change Languages</a:t>
            </a:r>
          </a:p>
        </p:txBody>
      </p:sp>
      <p:graphicFrame>
        <p:nvGraphicFramePr>
          <p:cNvPr id="208" name="Google Shape;208;p26"/>
          <p:cNvGraphicFramePr/>
          <p:nvPr/>
        </p:nvGraphicFramePr>
        <p:xfrm>
          <a:off x="467544" y="1935163"/>
          <a:ext cx="8219250" cy="1081200"/>
        </p:xfrm>
        <a:graphic>
          <a:graphicData uri="http://schemas.openxmlformats.org/drawingml/2006/table">
            <a:tbl>
              <a:tblPr firstRow="1" bandRow="1">
                <a:noFill/>
                <a:tableStyleId>{25375610-7600-4973-BF82-191DA6F836F1}</a:tableStyleId>
              </a:tblPr>
              <a:tblGrid>
                <a:gridCol w="1952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7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7150">
                <a:tc>
                  <a:txBody>
                    <a:bodyPr/>
                    <a:lstStyle/>
                    <a:p>
                      <a:r>
                        <a:rPr sz="1200" b="1"/>
                        <a:t>Items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1"/>
                        <a:t>Contents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050">
                <a:tc>
                  <a:txBody>
                    <a:bodyPr/>
                    <a:lstStyle/>
                    <a:p>
                      <a:r>
                        <a:rPr sz="1200" b="0"/>
                        <a:t>Language support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r>
                        <a:rPr sz="1200" b="0"/>
                        <a:t>This version supports English only. No in-app language change menu is provided.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흐름">
  <a:themeElements>
    <a:clrScheme name="흐름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765</Words>
  <Application>Microsoft Office PowerPoint</Application>
  <PresentationFormat>全屏显示(4:3)</PresentationFormat>
  <Paragraphs>139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0" baseType="lpstr">
      <vt:lpstr>Century Gothic</vt:lpstr>
      <vt:lpstr>Noto Sans Symbols</vt:lpstr>
      <vt:lpstr>Constantia</vt:lpstr>
      <vt:lpstr>Calibri</vt:lpstr>
      <vt:lpstr>Arial</vt:lpstr>
      <vt:lpstr>흐름</vt:lpstr>
      <vt:lpstr>흐름</vt:lpstr>
      <vt:lpstr>GoMax Short Description</vt:lpstr>
      <vt:lpstr>Revision History</vt:lpstr>
      <vt:lpstr>Contents</vt:lpstr>
      <vt:lpstr>UI Structure</vt:lpstr>
      <vt:lpstr>UI Structure - Flow Graph</vt:lpstr>
      <vt:lpstr>UI Structure - Depth Navigation</vt:lpstr>
      <vt:lpstr>Usage Scenario</vt:lpstr>
      <vt:lpstr>Usage Scenario</vt:lpstr>
      <vt:lpstr>PowerPoint 演示文稿</vt:lpstr>
      <vt:lpstr>Menu &amp; Function Description</vt:lpstr>
      <vt:lpstr>PowerPoint 演示文稿</vt:lpstr>
      <vt:lpstr>Key Policy</vt:lpstr>
      <vt:lpstr>How to Change Languages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oneting zhang</cp:lastModifiedBy>
  <cp:revision>1</cp:revision>
  <dcterms:modified xsi:type="dcterms:W3CDTF">2026-03-25T08:12:53Z</dcterms:modified>
</cp:coreProperties>
</file>